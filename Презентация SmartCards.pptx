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Urbanist" panose="020B0604020202020204" charset="0"/>
      <p:regular r:id="rId16"/>
      <p:bold r:id="rId17"/>
      <p:italic r:id="rId18"/>
      <p:boldItalic r:id="rId19"/>
    </p:embeddedFont>
    <p:embeddedFont>
      <p:font typeface="Urbanist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B8F2C3-B4A4-4DA4-8C14-E2FF581138B2}">
  <a:tblStyle styleId="{4BB8F2C3-B4A4-4DA4-8C14-E2FF581138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4114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Проект </a:t>
            </a:r>
            <a:r>
              <a:rPr lang="en-US" sz="60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SmartCards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76984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Умный сервис для изучения учебных карточек и запоминания данных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926934"/>
            <a:ext cx="11049000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Автор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Ермолов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Даниил</a:t>
            </a:r>
            <a:endParaRPr lang="ru-RU" sz="1500" b="1" i="0" u="none" strike="noStrike" cap="none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Руководитель</a:t>
            </a:r>
            <a:r>
              <a:rPr lang="en-US" sz="1500" b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ru-RU" sz="1500" b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Блинов Виктор Александрович</a:t>
            </a:r>
            <a:endParaRPr lang="en-US" sz="1500" b="1" i="0" u="none" strike="noStrike" cap="none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70550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A3E635"/>
                </a:solidFill>
                <a:latin typeface="Inter"/>
                <a:ea typeface="Inter"/>
                <a:cs typeface="Inter"/>
                <a:sym typeface="Inter"/>
              </a:rPr>
              <a:t>Яндекс.Лицей</a:t>
            </a:r>
            <a:r>
              <a:rPr lang="en-US" sz="1500" b="0" i="0" u="none" strike="noStrike" cap="none" dirty="0">
                <a:solidFill>
                  <a:srgbClr val="A3E635"/>
                </a:solidFill>
                <a:latin typeface="Inter"/>
                <a:ea typeface="Inter"/>
                <a:cs typeface="Inter"/>
                <a:sym typeface="Inter"/>
              </a:rPr>
              <a:t> | 2026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149D4A-38BF-8E59-D7B2-D5F2DA5DE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" y="4669671"/>
            <a:ext cx="1587582" cy="1530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3194"/>
            <a:ext cx="3492549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23194"/>
            <a:ext cx="3492549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23194"/>
            <a:ext cx="3492549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3442394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Проблема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956744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Трудности в запоминании больших объемов информации при изучении языков или подготовке к экзаменам.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40324" y="3442394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Решение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40324" y="3956744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Веб-платформа для создания персональных колод флеш-карт с визуальным и текстовым контентом.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18624" y="3442394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Аудитория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18624" y="3956744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Школьники, студенты и все, кто занимается самообразованием и изучением иностранных слов.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6613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661344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661344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998339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 dirty="0" err="1">
                <a:solidFill>
                  <a:srgbClr val="A3E63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Идея</a:t>
            </a:r>
            <a:r>
              <a:rPr lang="en-US" sz="4050" b="0" i="0" u="none" strike="noStrike" cap="none" dirty="0">
                <a:solidFill>
                  <a:srgbClr val="A3E63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и </a:t>
            </a:r>
            <a:r>
              <a:rPr lang="en-US" sz="4050" b="0" i="0" u="none" strike="noStrike" cap="none" dirty="0" err="1">
                <a:solidFill>
                  <a:srgbClr val="A3E63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задачи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7994"/>
            <a:ext cx="523875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27994"/>
            <a:ext cx="523875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62025" y="3747194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62025" y="4261544"/>
            <a:ext cx="4457700" cy="122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r>
              <a:rPr lang="ru-RU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3</a:t>
            </a: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Flask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SQLAlchemy</a:t>
            </a:r>
            <a:endParaRPr lang="ru-RU" sz="1500" b="1" i="0" u="none" strike="noStrike" cap="none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Flask-Login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6772275" y="3747194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6772275" y="4261544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Bootstrap 5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Jinja2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HTML/CSS</a:t>
            </a:r>
            <a:endParaRPr dirty="0"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966144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966144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998339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Технологический </a:t>
            </a:r>
            <a:r>
              <a:rPr lang="en-US" sz="4050" b="0" i="0" u="none" strike="noStrike" cap="none">
                <a:solidFill>
                  <a:srgbClr val="A3E63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стек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16"/>
          <p:cNvGraphicFramePr/>
          <p:nvPr>
            <p:extLst>
              <p:ext uri="{D42A27DB-BD31-4B8C-83A1-F6EECF244321}">
                <p14:modId xmlns:p14="http://schemas.microsoft.com/office/powerpoint/2010/main" val="214055420"/>
              </p:ext>
            </p:extLst>
          </p:nvPr>
        </p:nvGraphicFramePr>
        <p:xfrm>
          <a:off x="571500" y="2932807"/>
          <a:ext cx="11049000" cy="2419325"/>
        </p:xfrm>
        <a:graphic>
          <a:graphicData uri="http://schemas.openxmlformats.org/drawingml/2006/table">
            <a:tbl>
              <a:tblPr firstRow="1" bandRow="1">
                <a:noFill/>
                <a:tableStyleId>{4BB8F2C3-B4A4-4DA4-8C14-E2FF581138B2}</a:tableStyleId>
              </a:tblPr>
              <a:tblGrid>
                <a:gridCol w="287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Класс</a:t>
                      </a: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(Модель)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Назначение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Ключевые поля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Профили пользователей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id, username, email, password_hash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Deck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Коллекции карточек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id, title, user_id, is_public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Card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Контент карточки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id, question, answer,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image_path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7" name="Google Shape;127;p16"/>
          <p:cNvSpPr/>
          <p:nvPr/>
        </p:nvSpPr>
        <p:spPr>
          <a:xfrm>
            <a:off x="571500" y="3551932"/>
            <a:ext cx="2879377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450877" y="3551932"/>
            <a:ext cx="3441799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892676" y="3551932"/>
            <a:ext cx="4727823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71500" y="4156769"/>
            <a:ext cx="28793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3450877" y="4156769"/>
            <a:ext cx="34417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892676" y="4156769"/>
            <a:ext cx="47278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4747319"/>
            <a:ext cx="28793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450877" y="4747319"/>
            <a:ext cx="34417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6892676" y="4747319"/>
            <a:ext cx="47278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71500" y="5337869"/>
            <a:ext cx="28793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450877" y="5337869"/>
            <a:ext cx="34417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892676" y="5337869"/>
            <a:ext cx="47278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998339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Структура </a:t>
            </a:r>
            <a:r>
              <a:rPr lang="en-US" sz="4050" b="0" i="0" u="none" strike="noStrike" cap="none">
                <a:solidFill>
                  <a:srgbClr val="A3E63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базы данных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3748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4700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1333500" y="2389882"/>
            <a:ext cx="4476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спользование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MyMemory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автоперевода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слов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1333500" y="3237607"/>
            <a:ext cx="4476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ользователь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вводит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только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оригинал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перевод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подтягивается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сам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1333500" y="4085332"/>
            <a:ext cx="4476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оддержка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более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50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языковых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пар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обучения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42798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327570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00" y="412343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998339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Интеграция </a:t>
            </a:r>
            <a:r>
              <a:rPr lang="en-US" sz="4050" b="0" i="0" u="none" strike="noStrike" cap="none">
                <a:solidFill>
                  <a:srgbClr val="A3E63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стороннего API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998339"/>
            <a:ext cx="52006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Мультимедиа в </a:t>
            </a:r>
            <a:r>
              <a:rPr lang="en-US" sz="4050" b="0" i="0" u="none" strike="noStrike" cap="none">
                <a:solidFill>
                  <a:srgbClr val="A3E63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обучении</a:t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4"/>
          <a:srcRect/>
          <a:stretch/>
        </p:blipFill>
        <p:spPr>
          <a:xfrm>
            <a:off x="6096000" y="1398623"/>
            <a:ext cx="6096000" cy="406075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2808089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Приложение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поддерживает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полноценную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загрузку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изображений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каждой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карточки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Это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критически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важно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визуального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метода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запоминания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4408289"/>
            <a:ext cx="4953000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Используется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защищенная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загрузка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через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Werkzeug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хранение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путей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 БД и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отображение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через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статические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файлы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Flask.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1533525" y="2485132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6381750" y="2653903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Обмен данными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381750" y="3063478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Приложение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предоставляет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программный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интерфейс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интеграции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с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другими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сервисами</a:t>
            </a:r>
            <a:endParaRPr dirty="0"/>
          </a:p>
        </p:txBody>
      </p:sp>
      <p:sp>
        <p:nvSpPr>
          <p:cNvPr id="172" name="Google Shape;172;p19"/>
          <p:cNvSpPr txBox="1"/>
          <p:nvPr/>
        </p:nvSpPr>
        <p:spPr>
          <a:xfrm>
            <a:off x="7143750" y="3863578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Выдача колод в JSON формате.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143750" y="4406503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Доступ к публичным данным без авторизации.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143750" y="4949428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Готовность к мобильной версии.</a:t>
            </a:r>
            <a:endParaRPr/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0" y="390167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44460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0" y="4987528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998339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Собственный </a:t>
            </a:r>
            <a:r>
              <a:rPr lang="en-US" sz="4050" b="0" i="0" u="none" strike="noStrike" cap="none">
                <a:solidFill>
                  <a:srgbClr val="A3E63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REST API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1333500" y="3404294"/>
            <a:ext cx="10287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еализован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полный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цикл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WebServer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+ API</a:t>
            </a:r>
            <a:endParaRPr dirty="0"/>
          </a:p>
        </p:txBody>
      </p:sp>
      <p:sp>
        <p:nvSpPr>
          <p:cNvPr id="195" name="Google Shape;195;p21"/>
          <p:cNvSpPr txBox="1"/>
          <p:nvPr/>
        </p:nvSpPr>
        <p:spPr>
          <a:xfrm>
            <a:off x="1333500" y="3947219"/>
            <a:ext cx="10287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од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соответствует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PEP 8 и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принципам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модульности</a:t>
            </a:r>
            <a:endParaRPr dirty="0"/>
          </a:p>
        </p:txBody>
      </p:sp>
      <p:sp>
        <p:nvSpPr>
          <p:cNvPr id="196" name="Google Shape;196;p21"/>
          <p:cNvSpPr txBox="1"/>
          <p:nvPr/>
        </p:nvSpPr>
        <p:spPr>
          <a:xfrm>
            <a:off x="1333500" y="4490144"/>
            <a:ext cx="10287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роект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готов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к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развертыванию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реальном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сервере</a:t>
            </a:r>
            <a:endParaRPr dirty="0"/>
          </a:p>
        </p:txBody>
      </p:sp>
      <p:pic>
        <p:nvPicPr>
          <p:cNvPr id="197" name="Google Shape;19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44239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98531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528244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71500" y="998339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Заключение и </a:t>
            </a:r>
            <a:r>
              <a:rPr lang="en-US" sz="4050" b="0" i="0" u="none" strike="noStrike" cap="none">
                <a:solidFill>
                  <a:srgbClr val="A3E63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выводы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295275" y="1788765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Спасибо за </a:t>
            </a:r>
            <a:r>
              <a:rPr lang="en-US" sz="75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внимание!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508126" y="4573785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github.com/dale327/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SmartCards</a:t>
            </a:r>
            <a:endParaRPr dirty="0"/>
          </a:p>
        </p:txBody>
      </p:sp>
      <p:pic>
        <p:nvPicPr>
          <p:cNvPr id="225" name="Google Shape;22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6350" y="4663201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Широкоэкранный</PresentationFormat>
  <Paragraphs>51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Urbanist</vt:lpstr>
      <vt:lpstr>Calibri</vt:lpstr>
      <vt:lpstr>Inter</vt:lpstr>
      <vt:lpstr>Urbanist SemiBold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daniilermolov9@gmail.com</cp:lastModifiedBy>
  <cp:revision>1</cp:revision>
  <dcterms:modified xsi:type="dcterms:W3CDTF">2026-05-15T08:45:52Z</dcterms:modified>
</cp:coreProperties>
</file>